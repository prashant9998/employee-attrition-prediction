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02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 shukla" userId="7352ae78e7a9a353" providerId="LiveId" clId="{795E4775-7BFA-4A88-80F5-A7BEA8BEC8D5}"/>
    <pc:docChg chg="custSel modSld">
      <pc:chgData name="prashant shukla" userId="7352ae78e7a9a353" providerId="LiveId" clId="{795E4775-7BFA-4A88-80F5-A7BEA8BEC8D5}" dt="2026-07-03T05:29:48.115" v="56" actId="207"/>
      <pc:docMkLst>
        <pc:docMk/>
      </pc:docMkLst>
      <pc:sldChg chg="delSp modSp mod">
        <pc:chgData name="prashant shukla" userId="7352ae78e7a9a353" providerId="LiveId" clId="{795E4775-7BFA-4A88-80F5-A7BEA8BEC8D5}" dt="2026-07-03T05:29:48.115" v="56" actId="207"/>
        <pc:sldMkLst>
          <pc:docMk/>
          <pc:sldMk cId="0" sldId="256"/>
        </pc:sldMkLst>
        <pc:spChg chg="mod">
          <ac:chgData name="prashant shukla" userId="7352ae78e7a9a353" providerId="LiveId" clId="{795E4775-7BFA-4A88-80F5-A7BEA8BEC8D5}" dt="2026-07-03T05:29:48.115" v="56" actId="207"/>
          <ac:spMkLst>
            <pc:docMk/>
            <pc:sldMk cId="0" sldId="256"/>
            <ac:spMk id="2" creationId="{00000000-0000-0000-0000-000000000000}"/>
          </ac:spMkLst>
        </pc:spChg>
        <pc:picChg chg="del mod">
          <ac:chgData name="prashant shukla" userId="7352ae78e7a9a353" providerId="LiveId" clId="{795E4775-7BFA-4A88-80F5-A7BEA8BEC8D5}" dt="2026-07-03T05:29:28.907" v="55" actId="478"/>
          <ac:picMkLst>
            <pc:docMk/>
            <pc:sldMk cId="0" sldId="256"/>
            <ac:picMk id="5" creationId="{00000000-0000-0000-0000-000000000000}"/>
          </ac:picMkLst>
        </pc:picChg>
      </pc:sldChg>
      <pc:sldChg chg="modSp mod">
        <pc:chgData name="prashant shukla" userId="7352ae78e7a9a353" providerId="LiveId" clId="{795E4775-7BFA-4A88-80F5-A7BEA8BEC8D5}" dt="2026-07-03T05:29:09.209" v="53" actId="1038"/>
        <pc:sldMkLst>
          <pc:docMk/>
          <pc:sldMk cId="0" sldId="270"/>
        </pc:sldMkLst>
        <pc:spChg chg="mod">
          <ac:chgData name="prashant shukla" userId="7352ae78e7a9a353" providerId="LiveId" clId="{795E4775-7BFA-4A88-80F5-A7BEA8BEC8D5}" dt="2026-07-03T05:29:09.209" v="53" actId="1038"/>
          <ac:spMkLst>
            <pc:docMk/>
            <pc:sldMk cId="0" sldId="270"/>
            <ac:spMk id="3" creationId="{00000000-0000-0000-0000-000000000000}"/>
          </ac:spMkLst>
        </pc:spChg>
        <pc:spChg chg="mod">
          <ac:chgData name="prashant shukla" userId="7352ae78e7a9a353" providerId="LiveId" clId="{795E4775-7BFA-4A88-80F5-A7BEA8BEC8D5}" dt="2026-07-03T05:28:31.437" v="2" actId="1076"/>
          <ac:spMkLst>
            <pc:docMk/>
            <pc:sldMk cId="0" sldId="270"/>
            <ac:spMk id="4" creationId="{00000000-0000-0000-0000-000000000000}"/>
          </ac:spMkLst>
        </pc:spChg>
        <pc:picChg chg="mod">
          <ac:chgData name="prashant shukla" userId="7352ae78e7a9a353" providerId="LiveId" clId="{795E4775-7BFA-4A88-80F5-A7BEA8BEC8D5}" dt="2026-07-03T05:28:50.579" v="7" actId="14100"/>
          <ac:picMkLst>
            <pc:docMk/>
            <pc:sldMk cId="0" sldId="270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2CE"/>
                </a:solidFill>
              </a:defRPr>
            </a:pPr>
            <a:r>
              <a:t>Employee Attrition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An End-to-End Machine Learning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What is Employee Attrition?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The reduction in staff when employees leave an organization.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Why is it an important business problem?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Loss of critical talent and institutional knowledge.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Financial Impact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High costs associated with recruitment, onboarding, and training.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Why Machine Learning?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Proactive identification of at-risk employees.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Data-driven retention strategies.</a:t>
            </a:r>
          </a:p>
        </p:txBody>
      </p:sp>
      <p:pic>
        <p:nvPicPr>
          <p:cNvPr id="5" name="Picture 4" descr="hr_ai_17830560731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Existing HR Challenges: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Traditional HR relies on intuition and exit interviews.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Lack of Predictive Analytics: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No foresight into who will leave and why.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Business Objective: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Identify key drivers of attrition and predict future turnover.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Expected Solution: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A reliable ML model and an interactive dashboard for HR teams.</a:t>
            </a:r>
          </a:p>
        </p:txBody>
      </p:sp>
      <p:pic>
        <p:nvPicPr>
          <p:cNvPr id="5" name="Picture 4" descr="hr_ai_17830560731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Analyze IBM HR Dataset for actionable insights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Data preprocessing (cleaning, encoding, scaling)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Feature engineering &amp; selection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Data balancing using SMOTE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Model training (Comparing 8 algorithms)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Evaluation using precision, recall, and ROC-AUC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Deployment using an interactive Streamlit application</a:t>
            </a:r>
          </a:p>
        </p:txBody>
      </p:sp>
      <p:pic>
        <p:nvPicPr>
          <p:cNvPr id="5" name="Picture 4" descr="ml_nodes_1783056095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Source: IBM HR Analytics Employee Attrition Dataset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Size: 1,470 Records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Features: 35 Independent Variables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Target Variable: Attrition (Yes / No)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Sample Columns: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Age, Monthly Income, Job Satisfaction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OverTime, Distance From Home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Total Working Years, Years at Company</a:t>
            </a:r>
          </a:p>
        </p:txBody>
      </p:sp>
      <p:pic>
        <p:nvPicPr>
          <p:cNvPr id="5" name="Picture 4" descr="dashboard_1783056085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Machine Learning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Data Collection -&gt; Importing CSV data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Data Cleaning -&gt; Removing redundant columns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EDA -&gt; Visualizing feature relationships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Feature Engineering -&gt; Selecting top impactful features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SMOTE -&gt; Handling the class imbalance (Yes vs No)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Model Training -&gt; Fitting algorithms on processed data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Evaluation -&gt; Comparing F1-Score &amp; ROC-AUC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Deployment -&gt; Launching the Streamlit Web App</a:t>
            </a:r>
          </a:p>
        </p:txBody>
      </p:sp>
      <p:pic>
        <p:nvPicPr>
          <p:cNvPr id="5" name="Picture 4" descr="ml_nodes_1783056095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Exploratory Data Analysis (EDA)</a:t>
            </a:r>
          </a:p>
        </p:txBody>
      </p:sp>
      <p:pic>
        <p:nvPicPr>
          <p:cNvPr id="4" name="Picture 3" descr="attri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3657600"/>
          </a:xfrm>
          <a:prstGeom prst="rect">
            <a:avLst/>
          </a:prstGeom>
        </p:spPr>
      </p:pic>
      <p:pic>
        <p:nvPicPr>
          <p:cNvPr id="5" name="Picture 4" descr="income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3657600" cy="2743200"/>
          </a:xfrm>
          <a:prstGeom prst="rect">
            <a:avLst/>
          </a:prstGeom>
        </p:spPr>
      </p:pic>
      <p:pic>
        <p:nvPicPr>
          <p:cNvPr id="6" name="Picture 5" descr="age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71600"/>
            <a:ext cx="3657600" cy="2743200"/>
          </a:xfrm>
          <a:prstGeom prst="rect">
            <a:avLst/>
          </a:prstGeom>
        </p:spPr>
      </p:pic>
      <p:pic>
        <p:nvPicPr>
          <p:cNvPr id="7" name="Picture 6" descr="overtime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114800"/>
            <a:ext cx="3657600" cy="2743200"/>
          </a:xfrm>
          <a:prstGeom prst="rect">
            <a:avLst/>
          </a:prstGeom>
        </p:spPr>
      </p:pic>
      <p:pic>
        <p:nvPicPr>
          <p:cNvPr id="8" name="Picture 7" descr="corr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114800"/>
            <a:ext cx="3657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Removing Unnecessary Columns: EmployeeCount, StandardHours, Over18.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Handling Missing Values: Dataset was complete, no imputation needed.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Label Encoding: Converted categorical text to numeric.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StandardScaler: Scaled continuous features for uniformity.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SMOTE Balancing: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Before SMOTE: 1233 (No) / 237 (Yes)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After SMOTE: 1233 (No) / 1233 (Yes)</a:t>
            </a:r>
          </a:p>
        </p:txBody>
      </p:sp>
      <p:pic>
        <p:nvPicPr>
          <p:cNvPr id="5" name="Picture 4" descr="ml_nodes_1783056095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Top Features identified via Random Forest Feature Importance: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1. Monthly Income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2. Age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3. Total Working Years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4. Distance From Home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5. OverTime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Machine Learning Models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We trained and evaluated the following algorithms: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Logistic Regression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Decision Tree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Random Forest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XGBoost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Support Vector Machine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K-Nearest Neighbors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Naive Bayes</a:t>
            </a:r>
          </a:p>
        </p:txBody>
      </p:sp>
      <p:pic>
        <p:nvPicPr>
          <p:cNvPr id="5" name="Picture 4" descr="accuracy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Best Performing Models: Random Forest &amp; XGBoost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Key Metrics Evaluated: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Accuracy: ~90%+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Precision: High precision.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Recall: Minimized false negatives.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F1-Score: Balanced harmonic mean.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  • ROC-AUC: Excellent separability.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2667000"/>
          </a:xfrm>
          <a:prstGeom prst="rect">
            <a:avLst/>
          </a:prstGeom>
        </p:spPr>
      </p:pic>
      <p:pic>
        <p:nvPicPr>
          <p:cNvPr id="6" name="Picture 5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8288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Streamlit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Interactive Dashboard Features: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Input employee details via intuitive UI.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Real-time Prediction (Likely to Stay / Leave).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Confidence Score / Probability Gauge.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Risk Level Indicator (Low, Medium, High).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  • 3D Dataset Visualizations.</a:t>
            </a:r>
          </a:p>
        </p:txBody>
      </p:sp>
      <p:pic>
        <p:nvPicPr>
          <p:cNvPr id="5" name="Picture 4" descr="dashboard_1783056085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Business Value: HR can save millions in turnover costs.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HR Benefits: Shift from reactive to proactive management.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Prediction Accuracy: Highly reliable models deployed.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ML Advantages: Objective, data-driven decisions replacing intuition.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Deployment Success: Fully functional, production-ready system.</a:t>
            </a:r>
          </a:p>
        </p:txBody>
      </p:sp>
      <p:pic>
        <p:nvPicPr>
          <p:cNvPr id="5" name="Picture 4" descr="hr_ai_17830560731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Explainable AI (SHAP): To provide exact reasons for each individual prediction.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Deep Learning: Implement advanced neural networks for complex patterns.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API Integration: Connect with existing HRMS (Workday, SAP).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Cloud Deployment: Host on AWS/Azure for scalable enterprise use.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Continuous Learning: Model retraining as new HR data flows in.</a:t>
            </a:r>
          </a:p>
        </p:txBody>
      </p:sp>
      <p:pic>
        <p:nvPicPr>
          <p:cNvPr id="5" name="Picture 4" descr="ml_nodes_1783056095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867486" y="659423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/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335843" y="2690446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0F0F0"/>
                </a:solidFill>
              </a:defRPr>
            </a:pPr>
            <a:r>
              <a:rPr dirty="0"/>
              <a:t>Questions?</a:t>
            </a:r>
          </a:p>
          <a:p>
            <a:pPr algn="ctr">
              <a:defRPr sz="2800">
                <a:solidFill>
                  <a:srgbClr val="F0F0F0"/>
                </a:solidFill>
              </a:defRPr>
            </a:pPr>
            <a:r>
              <a:rPr dirty="0"/>
              <a:t>Email: your.email@example.com</a:t>
            </a:r>
          </a:p>
          <a:p>
            <a:pPr algn="ctr">
              <a:defRPr sz="2800">
                <a:solidFill>
                  <a:srgbClr val="F0F0F0"/>
                </a:solidFill>
              </a:defRPr>
            </a:pPr>
            <a:r>
              <a:rPr dirty="0"/>
              <a:t>LinkedIn: linkedin.com/in/</a:t>
            </a:r>
            <a:r>
              <a:rPr dirty="0" err="1"/>
              <a:t>yourprofile</a:t>
            </a:r>
            <a:endParaRPr dirty="0"/>
          </a:p>
          <a:p>
            <a:pPr algn="ctr">
              <a:defRPr sz="2800">
                <a:solidFill>
                  <a:srgbClr val="F0F0F0"/>
                </a:solidFill>
              </a:defRPr>
            </a:pPr>
            <a:r>
              <a:rPr dirty="0"/>
              <a:t>GitHub: github.com/</a:t>
            </a:r>
            <a:r>
              <a:rPr dirty="0" err="1"/>
              <a:t>yourusername</a:t>
            </a:r>
            <a:endParaRPr dirty="0"/>
          </a:p>
        </p:txBody>
      </p:sp>
      <p:pic>
        <p:nvPicPr>
          <p:cNvPr id="5" name="Picture 4" descr="team_success_17830561054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531" y="70338"/>
            <a:ext cx="5483469" cy="67876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701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 shukla</cp:lastModifiedBy>
  <cp:revision>1</cp:revision>
  <dcterms:created xsi:type="dcterms:W3CDTF">2013-01-27T09:14:16Z</dcterms:created>
  <dcterms:modified xsi:type="dcterms:W3CDTF">2026-07-03T05:29:58Z</dcterms:modified>
  <cp:category/>
</cp:coreProperties>
</file>